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2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1731752" cy="109728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3A2E20"/>
                </a:solidFill>
              </a:rPr>
              <a:t>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F0E8"/>
                </a:solidFill>
              </a:rPr>
              <a:t>Enterprise Windows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88A5E"/>
                </a:solidFill>
              </a:rPr>
              <a:t>Instrumentation (WMI)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F0E8"/>
                </a:solidFill>
              </a:rPr>
              <a:t>Telemetry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337560"/>
            <a:ext cx="6400800" cy="36576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4B896"/>
                </a:solidFill>
              </a:rPr>
              <a:t>High-Performance System Telemetry  ·  MongoDB Persistence  ·  Real-Time Monitoring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114800"/>
            <a:ext cx="1463040" cy="347472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413308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F0E8"/>
                </a:solidFill>
              </a:rPr>
              <a:t>Python 3.12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4114800"/>
            <a:ext cx="1463040" cy="347472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912" y="413308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F0E8"/>
                </a:solidFill>
              </a:rPr>
              <a:t>FastAPI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4114800"/>
            <a:ext cx="1463040" cy="347472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413308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F0E8"/>
                </a:solidFill>
              </a:rPr>
              <a:t>WMI / 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4114800"/>
            <a:ext cx="1463040" cy="347472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3872" y="413308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F0E8"/>
                </a:solidFill>
              </a:rPr>
              <a:t>MongoDB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4114800"/>
            <a:ext cx="1463040" cy="347472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413308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F0E8"/>
                </a:solidFill>
              </a:rPr>
              <a:t>APScheduler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4114800"/>
            <a:ext cx="1463040" cy="347472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2832" y="413308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F0E8"/>
                </a:solidFill>
              </a:rPr>
              <a:t>Pydantic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B896"/>
                </a:solidFill>
              </a:rPr>
              <a:t>Presenter: Nishta Dhand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983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957A"/>
                </a:solidFill>
              </a:rPr>
              <a:t>Audience: Enterprise Architecture · DevOps · Executive Committee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0E8"/>
                </a:solidFill>
              </a:rPr>
              <a:t>Enterprise WMI Telemetry Engine  |  Nishta Dhand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45720" cy="6748272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C241A"/>
                </a:solidFill>
              </a:rPr>
              <a:t>The Enterprise Problem &amp; Business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6F47"/>
                </a:solidFill>
              </a:rPr>
              <a:t>Why traditional monitoring tools fall short in modern enterprise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27432"/>
          </a:xfrm>
          <a:prstGeom prst="rect">
            <a:avLst/>
          </a:prstGeom>
          <a:solidFill>
            <a:srgbClr val="D4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0E8"/>
                </a:solidFill>
              </a:rPr>
              <a:t>Enterprise WMI Telemetry Engine  |  Nishta Dhand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6F47"/>
                </a:solidFill>
              </a:rPr>
              <a:t>2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325880"/>
            <a:ext cx="5394960" cy="1143000"/>
          </a:xfrm>
          <a:prstGeom prst="rect">
            <a:avLst/>
          </a:prstGeom>
          <a:solidFill>
            <a:srgbClr val="FAEDE0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3A3A"/>
                </a:solidFill>
              </a:rPr>
              <a:t>✗  Heavy Third-Party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46504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4A32"/>
                </a:solidFill>
              </a:rPr>
              <a:t>High memory/CPU overhead, constant patching, security audit risks.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6916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8A5E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325880"/>
            <a:ext cx="5394960" cy="1143000"/>
          </a:xfrm>
          <a:prstGeom prst="rect">
            <a:avLst/>
          </a:prstGeom>
          <a:solidFill>
            <a:srgbClr val="F0E8D8"/>
          </a:solidFill>
          <a:ln w="9525">
            <a:solidFill>
              <a:srgbClr val="B88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6A3A"/>
                </a:solidFill>
              </a:rPr>
              <a:t>✔  Agentless Native WMI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746504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4A32"/>
                </a:solidFill>
              </a:rPr>
              <a:t>Connects directly to Windows root\cimv2 using native OS infrastructure. Zero agent footprint.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542032"/>
            <a:ext cx="5394960" cy="1143000"/>
          </a:xfrm>
          <a:prstGeom prst="rect">
            <a:avLst/>
          </a:prstGeom>
          <a:solidFill>
            <a:srgbClr val="FAEDE0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334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3A3A"/>
                </a:solidFill>
              </a:rPr>
              <a:t>✗  Data Fragmentation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962656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4A32"/>
                </a:solidFill>
              </a:rPr>
              <a:t>Hardware, OS, disk, user, and network metrics stored in disconnected silos.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29077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8A5E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542032"/>
            <a:ext cx="5394960" cy="1143000"/>
          </a:xfrm>
          <a:prstGeom prst="rect">
            <a:avLst/>
          </a:prstGeom>
          <a:solidFill>
            <a:srgbClr val="F0E8D8"/>
          </a:solidFill>
          <a:ln w="9525">
            <a:solidFill>
              <a:srgbClr val="B88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6334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6A3A"/>
                </a:solidFill>
              </a:rPr>
              <a:t>✔  Unified Schema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962656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4A32"/>
                </a:solidFill>
              </a:rPr>
              <a:t>Consolidated CompleteSystemSnapshot Pydantic model with strict type validation.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758184"/>
            <a:ext cx="5394960" cy="1143000"/>
          </a:xfrm>
          <a:prstGeom prst="rect">
            <a:avLst/>
          </a:prstGeom>
          <a:solidFill>
            <a:srgbClr val="FAEDE0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84962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3A3A"/>
                </a:solidFill>
              </a:rPr>
              <a:t>✗  Single-Point Storage Failure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178808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4A32"/>
                </a:solidFill>
              </a:rPr>
              <a:t>Telemetry collection halts when central database goes offline.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412394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8A5E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758184"/>
            <a:ext cx="5394960" cy="1143000"/>
          </a:xfrm>
          <a:prstGeom prst="rect">
            <a:avLst/>
          </a:prstGeom>
          <a:solidFill>
            <a:srgbClr val="F0E8D8"/>
          </a:solidFill>
          <a:ln w="9525">
            <a:solidFill>
              <a:srgbClr val="B88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84962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6A3A"/>
                </a:solidFill>
              </a:rPr>
              <a:t>✔  Resilient Dual 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178808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4A32"/>
                </a:solidFill>
              </a:rPr>
              <a:t>Automatically buffers to local disk JSON snapshots when MongoDB is unreachable.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4974336"/>
            <a:ext cx="5394960" cy="1143000"/>
          </a:xfrm>
          <a:prstGeom prst="rect">
            <a:avLst/>
          </a:prstGeom>
          <a:solidFill>
            <a:srgbClr val="FAEDE0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06577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3A3A"/>
                </a:solidFill>
              </a:rPr>
              <a:t>✗  Lack of Real-Time Visibility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39496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4A32"/>
                </a:solidFill>
              </a:rPr>
              <a:t>Infrastructure audits are periodic, manual, and outdated upon delivery.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534009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8A5E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4974336"/>
            <a:ext cx="5394960" cy="1143000"/>
          </a:xfrm>
          <a:prstGeom prst="rect">
            <a:avLst/>
          </a:prstGeom>
          <a:solidFill>
            <a:srgbClr val="F0E8D8"/>
          </a:solidFill>
          <a:ln w="9525">
            <a:solidFill>
              <a:srgbClr val="B88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506577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6A3A"/>
                </a:solidFill>
              </a:rPr>
              <a:t>✔  Continuous Automation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39496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4A32"/>
                </a:solidFill>
              </a:rPr>
              <a:t>Background daemon collecting live metrics every 60 seconds with instant UI refresh.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45720" cy="6748272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C241A"/>
                </a:solidFill>
              </a:rPr>
              <a:t>Architectural Blueprint — 4-Tier 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6F47"/>
                </a:solidFill>
              </a:rPr>
              <a:t>From native WMI collection to enterprise REST API and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27432"/>
          </a:xfrm>
          <a:prstGeom prst="rect">
            <a:avLst/>
          </a:prstGeom>
          <a:solidFill>
            <a:srgbClr val="D4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0E8"/>
                </a:solidFill>
              </a:rPr>
              <a:t>Enterprise WMI Telemetry Engine  |  Nishta Dhand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6F47"/>
                </a:solidFill>
              </a:rPr>
              <a:t>3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25880"/>
            <a:ext cx="2743200" cy="3383280"/>
          </a:xfrm>
          <a:prstGeom prst="rect">
            <a:avLst/>
          </a:prstGeom>
          <a:solidFill>
            <a:srgbClr val="FDF8F2"/>
          </a:solidFill>
          <a:ln w="19050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325880"/>
            <a:ext cx="2743200" cy="640080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3716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0E8"/>
                </a:solidFill>
              </a:rPr>
              <a:t>TIER 1
Target Host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57400"/>
            <a:ext cx="2468880" cy="457200"/>
          </a:xfrm>
          <a:prstGeom prst="rect">
            <a:avLst/>
          </a:prstGeom>
          <a:solidFill>
            <a:srgbClr val="F0E8D8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031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41A"/>
                </a:solidFill>
              </a:rPr>
              <a:t>Windows WMI Namespace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06040"/>
            <a:ext cx="2468880" cy="457200"/>
          </a:xfrm>
          <a:prstGeom prst="rect">
            <a:avLst/>
          </a:prstGeom>
          <a:solidFill>
            <a:srgbClr val="F0E8D8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517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41A"/>
                </a:solidFill>
              </a:rPr>
              <a:t>root\cimv2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154680"/>
            <a:ext cx="2468880" cy="457200"/>
          </a:xfrm>
          <a:prstGeom prst="rect">
            <a:avLst/>
          </a:prstGeom>
          <a:solidFill>
            <a:srgbClr val="F0E8D8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004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41A"/>
                </a:solidFill>
              </a:rPr>
              <a:t>Win32_* Classes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703320"/>
            <a:ext cx="2468880" cy="457200"/>
          </a:xfrm>
          <a:prstGeom prst="rect">
            <a:avLst/>
          </a:prstGeom>
          <a:solidFill>
            <a:srgbClr val="F0E8D8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74904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41A"/>
                </a:solidFill>
              </a:rPr>
              <a:t>Registry Hives (x64/x86)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154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88A5E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1325880"/>
            <a:ext cx="2743200" cy="3383280"/>
          </a:xfrm>
          <a:prstGeom prst="rect">
            <a:avLst/>
          </a:prstGeom>
          <a:solidFill>
            <a:srgbClr val="FDF8F2"/>
          </a:solidFill>
          <a:ln w="19050">
            <a:solidFill>
              <a:srgbClr val="7A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46120" y="1325880"/>
            <a:ext cx="2743200" cy="640080"/>
          </a:xfrm>
          <a:prstGeom prst="rect">
            <a:avLst/>
          </a:prstGeom>
          <a:solidFill>
            <a:srgbClr val="7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13716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0E8"/>
                </a:solidFill>
              </a:rPr>
              <a:t>TIER 2
Collection Engine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2057400"/>
            <a:ext cx="2468880" cy="457200"/>
          </a:xfrm>
          <a:prstGeom prst="rect">
            <a:avLst/>
          </a:prstGeom>
          <a:solidFill>
            <a:srgbClr val="F0E8D8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21031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41A"/>
                </a:solidFill>
              </a:rPr>
              <a:t>WMIConnectionManager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2606040"/>
            <a:ext cx="2468880" cy="457200"/>
          </a:xfrm>
          <a:prstGeom prst="rect">
            <a:avLst/>
          </a:prstGeom>
          <a:solidFill>
            <a:srgbClr val="F0E8D8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26517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41A"/>
                </a:solidFill>
              </a:rPr>
              <a:t>COM Thread Safety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3154680"/>
            <a:ext cx="2468880" cy="457200"/>
          </a:xfrm>
          <a:prstGeom prst="rect">
            <a:avLst/>
          </a:prstGeom>
          <a:solidFill>
            <a:srgbClr val="F0E8D8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29000" y="32004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41A"/>
                </a:solidFill>
              </a:rPr>
              <a:t>BaseCollector Framework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3703320"/>
            <a:ext cx="2468880" cy="457200"/>
          </a:xfrm>
          <a:prstGeom prst="rect">
            <a:avLst/>
          </a:prstGeom>
          <a:solidFill>
            <a:srgbClr val="F0E8D8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374904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41A"/>
                </a:solidFill>
              </a:rPr>
              <a:t>CollectorOrchestrator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3154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88A5E"/>
                </a:solidFill>
              </a:rPr>
              <a:t>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1325880"/>
            <a:ext cx="2743200" cy="3383280"/>
          </a:xfrm>
          <a:prstGeom prst="rect">
            <a:avLst/>
          </a:prstGeom>
          <a:solidFill>
            <a:srgbClr val="FDF8F2"/>
          </a:solidFill>
          <a:ln w="19050">
            <a:solidFill>
              <a:srgbClr val="6A5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1325880"/>
            <a:ext cx="2743200" cy="640080"/>
          </a:xfrm>
          <a:prstGeom prst="rect">
            <a:avLst/>
          </a:prstGeom>
          <a:solidFill>
            <a:srgbClr val="6A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3716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0E8"/>
                </a:solidFill>
              </a:rPr>
              <a:t>TIER 3
Data Pipeline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2057400"/>
            <a:ext cx="2468880" cy="457200"/>
          </a:xfrm>
          <a:prstGeom prst="rect">
            <a:avLst/>
          </a:prstGeom>
          <a:solidFill>
            <a:srgbClr val="F0E8D8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21031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41A"/>
                </a:solidFill>
              </a:rPr>
              <a:t>Pydantic Validation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2606040"/>
            <a:ext cx="2468880" cy="457200"/>
          </a:xfrm>
          <a:prstGeom prst="rect">
            <a:avLst/>
          </a:prstGeom>
          <a:solidFill>
            <a:srgbClr val="F0E8D8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26517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41A"/>
                </a:solidFill>
              </a:rPr>
              <a:t>CompleteSystemSnapshot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3154680"/>
            <a:ext cx="2468880" cy="457200"/>
          </a:xfrm>
          <a:prstGeom prst="rect">
            <a:avLst/>
          </a:prstGeom>
          <a:solidFill>
            <a:srgbClr val="F0E8D8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004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41A"/>
                </a:solidFill>
              </a:rPr>
              <a:t>MongoDB Primary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3703320"/>
            <a:ext cx="2468880" cy="457200"/>
          </a:xfrm>
          <a:prstGeom prst="rect">
            <a:avLst/>
          </a:prstGeom>
          <a:solidFill>
            <a:srgbClr val="F0E8D8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374904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41A"/>
                </a:solidFill>
              </a:rPr>
              <a:t>Local JSON Cache (Fallback)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3154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88A5E"/>
                </a:solidFill>
              </a:rPr>
              <a:t>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72600" y="1325880"/>
            <a:ext cx="2743200" cy="3383280"/>
          </a:xfrm>
          <a:prstGeom prst="rect">
            <a:avLst/>
          </a:prstGeom>
          <a:solidFill>
            <a:srgbClr val="FDF8F2"/>
          </a:solidFill>
          <a:ln w="19050">
            <a:solidFill>
              <a:srgbClr val="5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72600" y="1325880"/>
            <a:ext cx="2743200" cy="640080"/>
          </a:xfrm>
          <a:prstGeom prst="rect">
            <a:avLst/>
          </a:prstGeom>
          <a:solidFill>
            <a:srgbClr val="5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64040" y="13716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0E8"/>
                </a:solidFill>
              </a:rPr>
              <a:t>TIER 4
Consumption Layer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9760" y="2057400"/>
            <a:ext cx="2468880" cy="457200"/>
          </a:xfrm>
          <a:prstGeom prst="rect">
            <a:avLst/>
          </a:prstGeom>
          <a:solidFill>
            <a:srgbClr val="F0E8D8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55480" y="21031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41A"/>
                </a:solidFill>
              </a:rPr>
              <a:t>FastAPI REST API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09760" y="2606040"/>
            <a:ext cx="2468880" cy="457200"/>
          </a:xfrm>
          <a:prstGeom prst="rect">
            <a:avLst/>
          </a:prstGeom>
          <a:solidFill>
            <a:srgbClr val="F0E8D8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55480" y="26517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41A"/>
                </a:solidFill>
              </a:rPr>
              <a:t>Interactive Dashboard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760" y="3154680"/>
            <a:ext cx="2468880" cy="457200"/>
          </a:xfrm>
          <a:prstGeom prst="rect">
            <a:avLst/>
          </a:prstGeom>
          <a:solidFill>
            <a:srgbClr val="F0E8D8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55480" y="320040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41A"/>
                </a:solidFill>
              </a:rPr>
              <a:t>CLI (main.py)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9760" y="3703320"/>
            <a:ext cx="2468880" cy="457200"/>
          </a:xfrm>
          <a:prstGeom prst="rect">
            <a:avLst/>
          </a:prstGeom>
          <a:solidFill>
            <a:srgbClr val="F0E8D8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55480" y="374904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241A"/>
                </a:solidFill>
              </a:rPr>
              <a:t>APScheduler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45720" cy="6748272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C241A"/>
                </a:solidFill>
              </a:rPr>
              <a:t>Comprehensive Telemetry Domain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6F47"/>
                </a:solidFill>
              </a:rPr>
              <a:t>8 enterprise operational dimensions monitored in a single collection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27432"/>
          </a:xfrm>
          <a:prstGeom prst="rect">
            <a:avLst/>
          </a:prstGeom>
          <a:solidFill>
            <a:srgbClr val="D4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0E8"/>
                </a:solidFill>
              </a:rPr>
              <a:t>Enterprise WMI Telemetry Engine  |  Nishta Dhand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6F47"/>
                </a:solidFill>
              </a:rPr>
              <a:t>4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71600"/>
            <a:ext cx="2834640" cy="1645920"/>
          </a:xfrm>
          <a:prstGeom prst="rect">
            <a:avLst/>
          </a:prstGeom>
          <a:solidFill>
            <a:srgbClr val="FDF8F2"/>
          </a:solidFill>
          <a:ln w="12700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371600"/>
            <a:ext cx="2834640" cy="502920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4173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0E8"/>
                </a:solidFill>
              </a:rPr>
              <a:t>01
Availability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93852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System Up/Down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26771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Probe latency (ms)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59689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Host reachability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1371600"/>
            <a:ext cx="2834640" cy="1645920"/>
          </a:xfrm>
          <a:prstGeom prst="rect">
            <a:avLst/>
          </a:prstGeom>
          <a:solidFill>
            <a:srgbClr val="FDF8F2"/>
          </a:solidFill>
          <a:ln w="12700">
            <a:solidFill>
              <a:srgbClr val="7A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27248" y="1371600"/>
            <a:ext cx="2834640" cy="502920"/>
          </a:xfrm>
          <a:prstGeom prst="rect">
            <a:avLst/>
          </a:prstGeom>
          <a:solidFill>
            <a:srgbClr val="7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18688" y="14173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0E8"/>
                </a:solidFill>
              </a:rPr>
              <a:t>02
Operating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8" y="193852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OS Name &amp; Build 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226771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Serial 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4408" y="259689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Windows Directory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71616" y="1371600"/>
            <a:ext cx="2834640" cy="1645920"/>
          </a:xfrm>
          <a:prstGeom prst="rect">
            <a:avLst/>
          </a:prstGeom>
          <a:solidFill>
            <a:srgbClr val="FDF8F2"/>
          </a:solidFill>
          <a:ln w="12700">
            <a:solidFill>
              <a:srgbClr val="5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71616" y="1371600"/>
            <a:ext cx="2834640" cy="502920"/>
          </a:xfrm>
          <a:prstGeom prst="rect">
            <a:avLst/>
          </a:prstGeom>
          <a:solidFill>
            <a:srgbClr val="5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6" y="14173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0E8"/>
                </a:solidFill>
              </a:rPr>
              <a:t>03
Disk Details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8776" y="193852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Disk size (MB)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226771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Free space (MB)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8776" y="259689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Used % &amp; Filesystem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15984" y="1371600"/>
            <a:ext cx="2834640" cy="1645920"/>
          </a:xfrm>
          <a:prstGeom prst="rect">
            <a:avLst/>
          </a:prstGeom>
          <a:solidFill>
            <a:srgbClr val="FDF8F2"/>
          </a:solidFill>
          <a:ln w="12700">
            <a:solidFill>
              <a:srgbClr val="4A6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15984" y="1371600"/>
            <a:ext cx="2834640" cy="502920"/>
          </a:xfrm>
          <a:prstGeom prst="rect">
            <a:avLst/>
          </a:prstGeom>
          <a:solidFill>
            <a:srgbClr val="4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14173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0E8"/>
                </a:solidFill>
              </a:rPr>
              <a:t>04
Network Config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3144" y="193852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IPv4 &amp; Subnet mask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3144" y="226771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MAC Address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3144" y="259689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Gateway &amp; DHCP state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3127248"/>
            <a:ext cx="2834640" cy="1645920"/>
          </a:xfrm>
          <a:prstGeom prst="rect">
            <a:avLst/>
          </a:prstGeom>
          <a:solidFill>
            <a:srgbClr val="FDF8F2"/>
          </a:solidFill>
          <a:ln w="12700">
            <a:solidFill>
              <a:srgbClr val="6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" y="3127248"/>
            <a:ext cx="2834640" cy="502920"/>
          </a:xfrm>
          <a:prstGeom prst="rect">
            <a:avLst/>
          </a:prstGeom>
          <a:solidFill>
            <a:srgbClr val="6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31729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0E8"/>
                </a:solidFill>
              </a:rPr>
              <a:t>05
User Accounts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369417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Usernames &amp; length calc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402336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Disabled account flags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43525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Active user sessions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27248" y="3127248"/>
            <a:ext cx="2834640" cy="1645920"/>
          </a:xfrm>
          <a:prstGeom prst="rect">
            <a:avLst/>
          </a:prstGeom>
          <a:solidFill>
            <a:srgbClr val="FDF8F2"/>
          </a:solidFill>
          <a:ln w="12700">
            <a:solidFill>
              <a:srgbClr val="7A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127248" y="3127248"/>
            <a:ext cx="2834640" cy="502920"/>
          </a:xfrm>
          <a:prstGeom prst="rect">
            <a:avLst/>
          </a:prstGeom>
          <a:solidFill>
            <a:srgbClr val="7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18688" y="31729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0E8"/>
                </a:solidFill>
              </a:rPr>
              <a:t>06
Configured Services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64408" y="369417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300+ services monitored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64408" y="402336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Running / Stopped badges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64408" y="43525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Startup mode &amp; path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71616" y="3127248"/>
            <a:ext cx="2834640" cy="1645920"/>
          </a:xfrm>
          <a:prstGeom prst="rect">
            <a:avLst/>
          </a:prstGeom>
          <a:solidFill>
            <a:srgbClr val="FDF8F2"/>
          </a:solidFill>
          <a:ln w="12700">
            <a:solidFill>
              <a:srgbClr val="7A6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71616" y="3127248"/>
            <a:ext cx="2834640" cy="502920"/>
          </a:xfrm>
          <a:prstGeom prst="rect">
            <a:avLst/>
          </a:prstGeom>
          <a:solidFill>
            <a:srgbClr val="7A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63056" y="31729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0E8"/>
                </a:solidFill>
              </a:rPr>
              <a:t>07
Installed Apps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08776" y="369417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34+ applications scanned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08776" y="402336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Vendor &amp; version info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08776" y="43525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Install date from registry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15984" y="3127248"/>
            <a:ext cx="2834640" cy="1645920"/>
          </a:xfrm>
          <a:prstGeom prst="rect">
            <a:avLst/>
          </a:prstGeom>
          <a:solidFill>
            <a:srgbClr val="FDF8F2"/>
          </a:solidFill>
          <a:ln w="12700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15984" y="3127248"/>
            <a:ext cx="2834640" cy="502920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07424" y="31729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0E8"/>
                </a:solidFill>
              </a:rPr>
              <a:t>08
Performance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53144" y="369417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CPU % &amp; process count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53144" y="402336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RAM &amp; virtual memory (16GB)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53144" y="43525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Storage capacity breakdown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45720" cy="6748272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C241A"/>
                </a:solidFill>
              </a:rPr>
              <a:t>WMI Low-Level Collection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6F47"/>
                </a:solidFill>
              </a:rPr>
              <a:t>Thread-safe COM architecture, dual registry scanning, modular collector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27432"/>
          </a:xfrm>
          <a:prstGeom prst="rect">
            <a:avLst/>
          </a:prstGeom>
          <a:solidFill>
            <a:srgbClr val="D4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0E8"/>
                </a:solidFill>
              </a:rPr>
              <a:t>Enterprise WMI Telemetry Engine  |  Nishta Dhand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6F47"/>
                </a:solidFill>
              </a:rPr>
              <a:t>5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371600"/>
            <a:ext cx="5943600" cy="1188720"/>
          </a:xfrm>
          <a:prstGeom prst="rect">
            <a:avLst/>
          </a:prstGeom>
          <a:solidFill>
            <a:srgbClr val="FDF8F2"/>
          </a:solidFill>
          <a:ln w="9525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371600"/>
            <a:ext cx="73152" cy="118872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463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6F47"/>
                </a:solidFill>
              </a:rPr>
              <a:t>Thread-Safe COM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82880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4A32"/>
                </a:solidFill>
              </a:rPr>
              <a:t>Enforces pythoncom.CoInitialize() / CoUninitialize() per worker thread to prevent deadlocks in FastAPI &amp; APScheduler contexts.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670048"/>
            <a:ext cx="5943600" cy="1188720"/>
          </a:xfrm>
          <a:prstGeom prst="rect">
            <a:avLst/>
          </a:prstGeom>
          <a:solidFill>
            <a:srgbClr val="FDF8F2"/>
          </a:solidFill>
          <a:ln w="9525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670048"/>
            <a:ext cx="73152" cy="118872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76148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6F47"/>
                </a:solidFill>
              </a:rPr>
              <a:t>Dual Registry Scanning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127248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4A32"/>
                </a:solidFill>
              </a:rPr>
              <a:t>Queries both native 64-bit and WOW6432Node paths to capture all installed applications (modern + legacy x86).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968496"/>
            <a:ext cx="5943600" cy="1188720"/>
          </a:xfrm>
          <a:prstGeom prst="rect">
            <a:avLst/>
          </a:prstGeom>
          <a:solidFill>
            <a:srgbClr val="FDF8F2"/>
          </a:solidFill>
          <a:ln w="9525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968496"/>
            <a:ext cx="73152" cy="118872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05993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6F47"/>
                </a:solidFill>
              </a:rPr>
              <a:t>Modular Collector Hierarchy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425696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4A32"/>
                </a:solidFill>
              </a:rPr>
              <a:t>Each domain has a dedicated Collector class inheriting from BaseCollector with isolated COM sessions and error boundaries.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5266944"/>
            <a:ext cx="5943600" cy="1188720"/>
          </a:xfrm>
          <a:prstGeom prst="rect">
            <a:avLst/>
          </a:prstGeom>
          <a:solidFill>
            <a:srgbClr val="FDF8F2"/>
          </a:solidFill>
          <a:ln w="9525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5266944"/>
            <a:ext cx="73152" cy="118872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35838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6F47"/>
                </a:solidFill>
              </a:rPr>
              <a:t>Resilient Error Handling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724144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4A32"/>
                </a:solidFill>
              </a:rPr>
              <a:t>Per-collector try/except with structured logging; partial failure in one domain never crashes the full collection cycle.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325880"/>
            <a:ext cx="5394960" cy="5029200"/>
          </a:xfrm>
          <a:prstGeom prst="rect">
            <a:avLst/>
          </a:prstGeom>
          <a:solidFill>
            <a:srgbClr val="FDF8F2"/>
          </a:solidFill>
          <a:ln w="12700">
            <a:solidFill>
              <a:srgbClr val="B88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325880"/>
            <a:ext cx="5394960" cy="457200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F0E8"/>
                </a:solidFill>
              </a:rPr>
              <a:t>Collector Hierarchy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960" y="1920240"/>
            <a:ext cx="5120640" cy="530352"/>
          </a:xfrm>
          <a:prstGeom prst="rect">
            <a:avLst/>
          </a:prstGeom>
          <a:solidFill>
            <a:srgbClr val="F0E8D8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19568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6F47"/>
                </a:solidFill>
              </a:rPr>
              <a:t>BaseCollector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19568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4A32"/>
                </a:solidFill>
              </a:rPr>
              <a:t>Abstract base · COM session · error boundary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2514600"/>
            <a:ext cx="5120640" cy="530352"/>
          </a:xfrm>
          <a:prstGeom prst="rect">
            <a:avLst/>
          </a:prstGeom>
          <a:solidFill>
            <a:srgbClr val="F0E8D8"/>
          </a:solidFill>
          <a:ln w="9525">
            <a:solidFill>
              <a:srgbClr val="7A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25511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5C3A"/>
                </a:solidFill>
              </a:rPr>
              <a:t>SystemCollector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25511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4A32"/>
                </a:solidFill>
              </a:rPr>
              <a:t>Win32_OperatingSystem · Win32_ComputerSystem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3108960"/>
            <a:ext cx="5120640" cy="530352"/>
          </a:xfrm>
          <a:prstGeom prst="rect">
            <a:avLst/>
          </a:prstGeom>
          <a:solidFill>
            <a:srgbClr val="F0E8D8"/>
          </a:solidFill>
          <a:ln w="9525">
            <a:solidFill>
              <a:srgbClr val="5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31455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7A4A"/>
                </a:solidFill>
              </a:rPr>
              <a:t>DiskCollector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31455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4A32"/>
                </a:solidFill>
              </a:rPr>
              <a:t>Win32_LogicalDisk · DriveType=3 filter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60" y="3703320"/>
            <a:ext cx="5120640" cy="530352"/>
          </a:xfrm>
          <a:prstGeom prst="rect">
            <a:avLst/>
          </a:prstGeom>
          <a:solidFill>
            <a:srgbClr val="F0E8D8"/>
          </a:solidFill>
          <a:ln w="9525">
            <a:solidFill>
              <a:srgbClr val="4A6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7398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6A7A"/>
                </a:solidFill>
              </a:rPr>
              <a:t>NetworkCollector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373989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4A32"/>
                </a:solidFill>
              </a:rPr>
              <a:t>Win32_NetworkAdapterConfiguration · IP filter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960" y="4297680"/>
            <a:ext cx="5120640" cy="530352"/>
          </a:xfrm>
          <a:prstGeom prst="rect">
            <a:avLst/>
          </a:prstGeom>
          <a:solidFill>
            <a:srgbClr val="F0E8D8"/>
          </a:solidFill>
          <a:ln w="9525">
            <a:solidFill>
              <a:srgbClr val="6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433425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A4A7A"/>
                </a:solidFill>
              </a:rPr>
              <a:t>ServiceCollector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433425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4A32"/>
                </a:solidFill>
              </a:rPr>
              <a:t>Win32_Service · executable paths · startup modes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37960" y="4892040"/>
            <a:ext cx="5120640" cy="530352"/>
          </a:xfrm>
          <a:prstGeom prst="rect">
            <a:avLst/>
          </a:prstGeom>
          <a:solidFill>
            <a:srgbClr val="F0E8D8"/>
          </a:solidFill>
          <a:ln w="9525">
            <a:solidFill>
              <a:srgbClr val="7A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400" y="49286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4A5A"/>
                </a:solidFill>
              </a:rPr>
              <a:t>UserCollector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49286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4A32"/>
                </a:solidFill>
              </a:rPr>
              <a:t>Win32_UserAccount · length calc · permissions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7960" y="5486400"/>
            <a:ext cx="5120640" cy="530352"/>
          </a:xfrm>
          <a:prstGeom prst="rect">
            <a:avLst/>
          </a:prstGeom>
          <a:solidFill>
            <a:srgbClr val="F0E8D8"/>
          </a:solidFill>
          <a:ln w="9525">
            <a:solidFill>
              <a:srgbClr val="7A6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29400" y="5522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6A3A"/>
                </a:solidFill>
              </a:rPr>
              <a:t>SoftwareCollector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5229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4A32"/>
                </a:solidFill>
              </a:rPr>
              <a:t>HKLM Registry · 64-bit &amp; WOW6432Node hives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45720" cy="6748272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C241A"/>
                </a:solidFill>
              </a:rPr>
              <a:t>Data Persistence &amp; High-Availability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6F47"/>
                </a:solidFill>
              </a:rPr>
              <a:t>Dual-engine persistence: MongoDB primary + intelligent local disk fallback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27432"/>
          </a:xfrm>
          <a:prstGeom prst="rect">
            <a:avLst/>
          </a:prstGeom>
          <a:solidFill>
            <a:srgbClr val="D4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0E8"/>
                </a:solidFill>
              </a:rPr>
              <a:t>Enterprise WMI Telemetry Engine  |  Nishta Dhand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6F47"/>
                </a:solidFill>
              </a:rPr>
              <a:t>6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371600"/>
            <a:ext cx="5577840" cy="4572000"/>
          </a:xfrm>
          <a:prstGeom prst="rect">
            <a:avLst/>
          </a:prstGeom>
          <a:solidFill>
            <a:srgbClr val="FDF8F2"/>
          </a:solidFill>
          <a:ln w="19050">
            <a:solidFill>
              <a:srgbClr val="B88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371600"/>
            <a:ext cx="5577840" cy="548640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2646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F0E8"/>
                </a:solidFill>
              </a:rPr>
              <a:t>PRIMARY STORAGE — MongoDB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057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C4A32"/>
                </a:solidFill>
              </a:rPr>
              <a:t>▸  Collection: wmi_system_monitor.system_snapshots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514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C4A32"/>
                </a:solidFill>
              </a:rPr>
              <a:t>▸  Indexes: snapshot_id, machine_name, timestamp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9718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C4A32"/>
                </a:solidFill>
              </a:rPr>
              <a:t>▸  Time-series historical data for trend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4290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C4A32"/>
                </a:solidFill>
              </a:rPr>
              <a:t>▸  Native BSON document storage — no ORM overhead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886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C4A32"/>
                </a:solidFill>
              </a:rPr>
              <a:t>▸  Handles growing snapshot volumes (100k+ records)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343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C4A32"/>
                </a:solidFill>
              </a:rPr>
              <a:t>▸  Support for range queries and audit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3383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88A5E"/>
                </a:solidFill>
              </a:rPr>
              <a:t>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1371600"/>
            <a:ext cx="5394960" cy="4572000"/>
          </a:xfrm>
          <a:prstGeom prst="rect">
            <a:avLst/>
          </a:prstGeom>
          <a:solidFill>
            <a:srgbClr val="FDF8F2"/>
          </a:solidFill>
          <a:ln w="19050">
            <a:solidFill>
              <a:srgbClr val="7A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60" y="1371600"/>
            <a:ext cx="5394960" cy="548640"/>
          </a:xfrm>
          <a:prstGeom prst="rect">
            <a:avLst/>
          </a:prstGeom>
          <a:solidFill>
            <a:srgbClr val="7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42646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F0E8"/>
                </a:solidFill>
              </a:rPr>
              <a:t>SECONDARY STORAGE — Local JSON Cache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057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C4A32"/>
                </a:solidFill>
              </a:rPr>
              <a:t>▸  Location: data/snapshots/ directory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14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C4A32"/>
                </a:solidFill>
              </a:rPr>
              <a:t>▸  Activated automatically on MongoDB timeout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971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C4A32"/>
                </a:solidFill>
              </a:rPr>
              <a:t>▸  Zero data loss during network disruptions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429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C4A32"/>
                </a:solidFill>
              </a:rPr>
              <a:t>▸  Air-gapped &amp; disconnected environment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886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C4A32"/>
                </a:solidFill>
              </a:rPr>
              <a:t>▸  API continues serving from cache seamlessly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343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C4A32"/>
                </a:solidFill>
              </a:rPr>
              <a:t>▸  Future: auto-sync to MongoDB on reconnection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6035040"/>
            <a:ext cx="11704320" cy="457200"/>
          </a:xfrm>
          <a:prstGeom prst="rect">
            <a:avLst/>
          </a:prstGeom>
          <a:solidFill>
            <a:srgbClr val="EEE5D5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0624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6F47"/>
                </a:solidFill>
              </a:rPr>
              <a:t>Zero-Crash Philosophy: If MongoDB fails, the system instantly switches to local cache. API and collectors continue running uninterrupted.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45720" cy="6748272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C241A"/>
                </a:solidFill>
              </a:rPr>
              <a:t>Interactive Web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6F47"/>
                </a:solidFill>
              </a:rPr>
              <a:t>Warm nude minimalist design · pixel-perfect alignment · real-time telemetry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27432"/>
          </a:xfrm>
          <a:prstGeom prst="rect">
            <a:avLst/>
          </a:prstGeom>
          <a:solidFill>
            <a:srgbClr val="D4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0E8"/>
                </a:solidFill>
              </a:rPr>
              <a:t>Enterprise WMI Telemetry Engine  |  Nishta Dhand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6F47"/>
                </a:solidFill>
              </a:rPr>
              <a:t>7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71600"/>
            <a:ext cx="2880360" cy="4389120"/>
          </a:xfrm>
          <a:prstGeom prst="rect">
            <a:avLst/>
          </a:prstGeom>
          <a:solidFill>
            <a:srgbClr val="FDF8F2"/>
          </a:solidFill>
          <a:ln w="12700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" y="1371600"/>
            <a:ext cx="2880360" cy="502920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44475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F0E8"/>
                </a:solidFill>
              </a:rPr>
              <a:t>Executive Aesthetic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965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Sophisticated warm nude and natural neutral palette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468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Soft linen, cashmere taupe, warm terracotta accents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9718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Professional typography (Inter / System-UI)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474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Glassmorphism card effects with subtle shadows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371600"/>
            <a:ext cx="2880360" cy="4389120"/>
          </a:xfrm>
          <a:prstGeom prst="rect">
            <a:avLst/>
          </a:prstGeom>
          <a:solidFill>
            <a:srgbClr val="FDF8F2"/>
          </a:solidFill>
          <a:ln w="12700">
            <a:solidFill>
              <a:srgbClr val="7A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1371600"/>
            <a:ext cx="2880360" cy="502920"/>
          </a:xfrm>
          <a:prstGeom prst="rect">
            <a:avLst/>
          </a:prstGeom>
          <a:solidFill>
            <a:srgbClr val="7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44475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F0E8"/>
                </a:solidFill>
              </a:rPr>
              <a:t>Structural 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1965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Pixel-perfect 2-column grid layout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468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Fixed 175px label baseline alignment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29718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Tabular numbers for jitter-free live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474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Responsive breakpoints for all screen sizes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371600"/>
            <a:ext cx="2880360" cy="4389120"/>
          </a:xfrm>
          <a:prstGeom prst="rect">
            <a:avLst/>
          </a:prstGeom>
          <a:solidFill>
            <a:srgbClr val="FDF8F2"/>
          </a:solidFill>
          <a:ln w="12700">
            <a:solidFill>
              <a:srgbClr val="5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371600"/>
            <a:ext cx="2880360" cy="502920"/>
          </a:xfrm>
          <a:prstGeom prst="rect">
            <a:avLst/>
          </a:prstGeom>
          <a:solidFill>
            <a:srgbClr val="5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44475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F0E8"/>
                </a:solidFill>
              </a:rPr>
              <a:t>Dynamic Micro-Interactions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965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Live telemetry beacon with animated pulse 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468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Shimmering progress bars for CPU / RAM / Disk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9718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Tab navigation: Overview · Software · OS · Network · Disk · Services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474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Instant search &amp; filter across 300+ services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1371600"/>
            <a:ext cx="2880360" cy="4389120"/>
          </a:xfrm>
          <a:prstGeom prst="rect">
            <a:avLst/>
          </a:prstGeom>
          <a:solidFill>
            <a:srgbClr val="FDF8F2"/>
          </a:solidFill>
          <a:ln w="12700">
            <a:solidFill>
              <a:srgbClr val="4A6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35440" y="1371600"/>
            <a:ext cx="2880360" cy="502920"/>
          </a:xfrm>
          <a:prstGeom prst="rect">
            <a:avLst/>
          </a:prstGeom>
          <a:solidFill>
            <a:srgbClr val="4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144475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F0E8"/>
                </a:solidFill>
              </a:rPr>
              <a:t>Real-Time Data 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19659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Refresh button triggers on-demand WMI probe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468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Background APScheduler auto-updates every 60s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297180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Toast notifications for collection 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34747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REST API badge showing data source (MongoDB / Cache)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45720" cy="6748272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C241A"/>
                </a:solidFill>
              </a:rPr>
              <a:t>Production Automation, Scheduler &amp;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6F47"/>
                </a:solidFill>
              </a:rPr>
              <a:t>APScheduler daemon · FastAPI endpoints · CLI interface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27432"/>
          </a:xfrm>
          <a:prstGeom prst="rect">
            <a:avLst/>
          </a:prstGeom>
          <a:solidFill>
            <a:srgbClr val="D4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0E8"/>
                </a:solidFill>
              </a:rPr>
              <a:t>Enterprise WMI Telemetry Engine  |  Nishta Dhand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6F47"/>
                </a:solidFill>
              </a:rPr>
              <a:t>8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371600"/>
            <a:ext cx="3657600" cy="4572000"/>
          </a:xfrm>
          <a:prstGeom prst="rect">
            <a:avLst/>
          </a:prstGeom>
          <a:solidFill>
            <a:srgbClr val="FDF8F2"/>
          </a:solidFill>
          <a:ln w="12700">
            <a:solidFill>
              <a:srgbClr val="B88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371600"/>
            <a:ext cx="3657600" cy="502920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42646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F0E8"/>
                </a:solidFill>
              </a:rPr>
              <a:t>APScheduler Daemon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116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4A32"/>
                </a:solidFill>
              </a:rPr>
              <a:t>▸  Integrated into FastAPI lifespan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487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4A32"/>
                </a:solidFill>
              </a:rPr>
              <a:t>▸  Auto-collection every 60 seconds (configurable)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96265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4A32"/>
                </a:solidFill>
              </a:rPr>
              <a:t>▸  Thread-safe async job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43814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4A32"/>
                </a:solidFill>
              </a:rPr>
              <a:t>▸  Graceful startup &amp; shutdown 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9136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4A32"/>
                </a:solidFill>
              </a:rPr>
              <a:t>▸  Zero manual intervention required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9080" y="1371600"/>
            <a:ext cx="4937760" cy="4572000"/>
          </a:xfrm>
          <a:prstGeom prst="rect">
            <a:avLst/>
          </a:prstGeom>
          <a:solidFill>
            <a:srgbClr val="FDF8F2"/>
          </a:solidFill>
          <a:ln w="12700">
            <a:solidFill>
              <a:srgbClr val="B88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69080" y="1371600"/>
            <a:ext cx="4937760" cy="502920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142646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F0E8"/>
                </a:solidFill>
              </a:rPr>
              <a:t>Enterprise REST API Endpoints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2011680"/>
            <a:ext cx="594360" cy="320040"/>
          </a:xfrm>
          <a:prstGeom prst="rect">
            <a:avLst/>
          </a:prstGeom>
          <a:solidFill>
            <a:srgbClr val="4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60520" y="203911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0116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F47"/>
                </a:solidFill>
              </a:rPr>
              <a:t>/api/health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228600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4A32"/>
                </a:solidFill>
              </a:rPr>
              <a:t>Diagnostics, DB connectivity &amp; scheduler heartbeat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2633472"/>
            <a:ext cx="594360" cy="320040"/>
          </a:xfrm>
          <a:prstGeom prst="rect">
            <a:avLst/>
          </a:prstGeom>
          <a:solidFill>
            <a:srgbClr val="4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0520" y="266090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26334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F47"/>
                </a:solidFill>
              </a:rPr>
              <a:t>/api/snapshots/latest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907792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4A32"/>
                </a:solidFill>
              </a:rPr>
              <a:t>Complete JSON of the most recent system snapshot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3255264"/>
            <a:ext cx="594360" cy="320040"/>
          </a:xfrm>
          <a:prstGeom prst="rect">
            <a:avLst/>
          </a:prstGeom>
          <a:solidFill>
            <a:srgbClr val="6A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3282696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325526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F47"/>
                </a:solidFill>
              </a:rPr>
              <a:t>/api/collect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3529584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4A32"/>
                </a:solidFill>
              </a:rPr>
              <a:t>Triggers on-demand live WMI probe immediately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3877056"/>
            <a:ext cx="594360" cy="320040"/>
          </a:xfrm>
          <a:prstGeom prst="rect">
            <a:avLst/>
          </a:prstGeom>
          <a:solidFill>
            <a:srgbClr val="4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0520" y="390448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387705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F47"/>
                </a:solidFill>
              </a:rPr>
              <a:t>/api/snapshots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4151376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4A32"/>
                </a:solidFill>
              </a:rPr>
              <a:t>Paginated list of historical telemetry snapshots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0520" y="4498848"/>
            <a:ext cx="594360" cy="320040"/>
          </a:xfrm>
          <a:prstGeom prst="rect">
            <a:avLst/>
          </a:prstGeom>
          <a:solidFill>
            <a:srgbClr val="4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4526280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44988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F47"/>
                </a:solidFill>
              </a:rPr>
              <a:t>/docs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4773168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4A32"/>
                </a:solidFill>
              </a:rPr>
              <a:t>Interactive OpenAPI / Swagger UI documentation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5120640"/>
            <a:ext cx="594360" cy="320040"/>
          </a:xfrm>
          <a:prstGeom prst="rect">
            <a:avLst/>
          </a:prstGeom>
          <a:solidFill>
            <a:srgbClr val="4A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60520" y="5148072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51206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F47"/>
                </a:solidFill>
              </a:rPr>
              <a:t>/static/presentation.html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600" y="539496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C4A32"/>
                </a:solidFill>
              </a:rPr>
              <a:t>Interactive slide deck viewer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9720" y="1371600"/>
            <a:ext cx="2743200" cy="4572000"/>
          </a:xfrm>
          <a:prstGeom prst="rect">
            <a:avLst/>
          </a:prstGeom>
          <a:solidFill>
            <a:srgbClr val="FDF8F2"/>
          </a:solidFill>
          <a:ln w="12700">
            <a:solidFill>
              <a:srgbClr val="7A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89720" y="1371600"/>
            <a:ext cx="2743200" cy="502920"/>
          </a:xfrm>
          <a:prstGeom prst="rect">
            <a:avLst/>
          </a:prstGeom>
          <a:solidFill>
            <a:srgbClr val="7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0" y="142646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F0E8"/>
                </a:solidFill>
              </a:rPr>
              <a:t>CLI (main.py)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81160" y="2011680"/>
            <a:ext cx="2468880" cy="411480"/>
          </a:xfrm>
          <a:prstGeom prst="rect">
            <a:avLst/>
          </a:prstGeom>
          <a:solidFill>
            <a:srgbClr val="EADFCC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20756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F47"/>
                </a:solidFill>
              </a:rPr>
              <a:t>$ py main.py collect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81160" y="2542032"/>
            <a:ext cx="2468880" cy="411480"/>
          </a:xfrm>
          <a:prstGeom prst="rect">
            <a:avLst/>
          </a:prstGeom>
          <a:solidFill>
            <a:srgbClr val="EADFCC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26060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F47"/>
                </a:solidFill>
              </a:rPr>
              <a:t>$ py main.py serve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81160" y="3072384"/>
            <a:ext cx="2468880" cy="411480"/>
          </a:xfrm>
          <a:prstGeom prst="rect">
            <a:avLst/>
          </a:prstGeom>
          <a:solidFill>
            <a:srgbClr val="EADFCC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0" y="31363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F47"/>
                </a:solidFill>
              </a:rPr>
              <a:t>$ py main.py schedule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81160" y="3602736"/>
            <a:ext cx="2468880" cy="411480"/>
          </a:xfrm>
          <a:prstGeom prst="rect">
            <a:avLst/>
          </a:prstGeom>
          <a:solidFill>
            <a:srgbClr val="EADFCC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0" y="366674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F47"/>
                </a:solidFill>
              </a:rPr>
              <a:t>$ py main.py status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81160" y="4133088"/>
            <a:ext cx="2468880" cy="411480"/>
          </a:xfrm>
          <a:prstGeom prst="rect">
            <a:avLst/>
          </a:prstGeom>
          <a:solidFill>
            <a:srgbClr val="EADFCC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419709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F47"/>
                </a:solidFill>
              </a:rPr>
              <a:t>$ py main.py export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45720" cy="6748272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C241A"/>
                </a:solidFill>
              </a:rPr>
              <a:t>Live Demonstration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6F47"/>
                </a:solidFill>
              </a:rPr>
              <a:t>Step-by-step demo script for NOC operators and executive stakeholders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27432"/>
          </a:xfrm>
          <a:prstGeom prst="rect">
            <a:avLst/>
          </a:prstGeom>
          <a:solidFill>
            <a:srgbClr val="D4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0E8"/>
                </a:solidFill>
              </a:rPr>
              <a:t>Enterprise WMI Telemetry Engine  |  Nishta Dhand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6F47"/>
                </a:solidFill>
              </a:rPr>
              <a:t>9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371600"/>
            <a:ext cx="11704320" cy="1188720"/>
          </a:xfrm>
          <a:prstGeom prst="rect">
            <a:avLst/>
          </a:prstGeom>
          <a:solidFill>
            <a:srgbClr val="FDF8F2"/>
          </a:solidFill>
          <a:ln w="12700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371600"/>
            <a:ext cx="91440" cy="1188720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371600"/>
            <a:ext cx="11704320" cy="41148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2646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6F47"/>
                </a:solidFill>
              </a:rPr>
              <a:t>STEP 1 — Open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11155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Navigate to http://127.0.0.1:8000/ · Point out live telemetry beacon · Show computer name (LAPTOP-FDBN88S7), OS (Windows 11, 64-bit) · Review CPU/RAM usage gauges and dual disk partitions (OS: 92%, New Volume: 5%).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670048"/>
            <a:ext cx="11704320" cy="1188720"/>
          </a:xfrm>
          <a:prstGeom prst="rect">
            <a:avLst/>
          </a:prstGeom>
          <a:solidFill>
            <a:srgbClr val="FDF8F2"/>
          </a:solidFill>
          <a:ln w="12700">
            <a:solidFill>
              <a:srgbClr val="7A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2670048"/>
            <a:ext cx="91440" cy="1188720"/>
          </a:xfrm>
          <a:prstGeom prst="rect">
            <a:avLst/>
          </a:prstGeom>
          <a:solidFill>
            <a:srgbClr val="7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2670048"/>
            <a:ext cx="11704320" cy="41148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2491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5C3A"/>
                </a:solidFill>
              </a:rPr>
              <a:t>STEP 2 — Tabbed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27248"/>
            <a:ext cx="11155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Switch to Configured Services → Search 'WinDefend' and 'Dnscache' → Show Running vs Stopped badges.
Switch to Installed Software → Search for enterprise apps.
Switch to OS Info &amp; Users → Show username list with computed length values (e.g., asus = 4, Administrator = 13).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968496"/>
            <a:ext cx="11704320" cy="1188720"/>
          </a:xfrm>
          <a:prstGeom prst="rect">
            <a:avLst/>
          </a:prstGeom>
          <a:solidFill>
            <a:srgbClr val="FDF8F2"/>
          </a:solidFill>
          <a:ln w="12700">
            <a:solidFill>
              <a:srgbClr val="5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3968496"/>
            <a:ext cx="91440" cy="1188720"/>
          </a:xfrm>
          <a:prstGeom prst="rect">
            <a:avLst/>
          </a:prstGeom>
          <a:solidFill>
            <a:srgbClr val="5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968496"/>
            <a:ext cx="11704320" cy="41148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233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7A4A"/>
                </a:solidFill>
              </a:rPr>
              <a:t>STEP 3 — Trigger Live Collection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425696"/>
            <a:ext cx="11155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Click the 🔄 Refresh button · Observe animated loading spinner · Background WMI probe executes across all 8 domains · Dashboard auto-refreshes with new telemetry in under 15 seconds · Toast notification confirms completion.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5266944"/>
            <a:ext cx="11704320" cy="1188720"/>
          </a:xfrm>
          <a:prstGeom prst="rect">
            <a:avLst/>
          </a:prstGeom>
          <a:solidFill>
            <a:srgbClr val="FDF8F2"/>
          </a:solidFill>
          <a:ln w="12700">
            <a:solidFill>
              <a:srgbClr val="4A6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5266944"/>
            <a:ext cx="91440" cy="1188720"/>
          </a:xfrm>
          <a:prstGeom prst="rect">
            <a:avLst/>
          </a:prstGeom>
          <a:solidFill>
            <a:srgbClr val="4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5266944"/>
            <a:ext cx="11704320" cy="411480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32180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6A7A"/>
                </a:solidFill>
              </a:rPr>
              <a:t>STEP 4 — Inspect REST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24144"/>
            <a:ext cx="11155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Navigate to http://127.0.0.1:8000/docs · Show OpenAPI Swagger UI with all endpoints documented · Execute GET /api/health live → Show JSON response with scheduler status and DB connectivity.
Execute GET /api/snapshots/latest → Show full structured telemetry payload.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45720" cy="6748272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C241A"/>
                </a:solidFill>
              </a:rPr>
              <a:t>Business Impact, Scalability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6F47"/>
                </a:solidFill>
              </a:rPr>
              <a:t>Direct enterprise value delivered today · Strategic vision for tomorrow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27432"/>
          </a:xfrm>
          <a:prstGeom prst="rect">
            <a:avLst/>
          </a:prstGeom>
          <a:solidFill>
            <a:srgbClr val="D4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0E8"/>
                </a:solidFill>
              </a:rPr>
              <a:t>Enterprise WMI Telemetry Engine  |  Nishta Dhand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6F47"/>
                </a:solidFill>
              </a:rPr>
              <a:t>10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371600"/>
            <a:ext cx="2834640" cy="2011680"/>
          </a:xfrm>
          <a:prstGeom prst="rect">
            <a:avLst/>
          </a:prstGeom>
          <a:solidFill>
            <a:srgbClr val="FDF8F2"/>
          </a:solidFill>
          <a:ln w="12700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B6F47"/>
                </a:solidFill>
              </a:rPr>
              <a:t>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874519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6F47"/>
                </a:solidFill>
              </a:rPr>
              <a:t>Cost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212848"/>
            <a:ext cx="2606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Replaces expensive third-party endpoint monitoring license fees with a zero-cost native WMI solution.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1371600"/>
            <a:ext cx="2834640" cy="2011680"/>
          </a:xfrm>
          <a:prstGeom prst="rect">
            <a:avLst/>
          </a:prstGeom>
          <a:solidFill>
            <a:srgbClr val="FDF8F2"/>
          </a:solidFill>
          <a:ln w="12700">
            <a:solidFill>
              <a:srgbClr val="7A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A5C3A"/>
                </a:solidFill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1874519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5C3A"/>
                </a:solidFill>
              </a:rPr>
              <a:t>Audit Readiness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212848"/>
            <a:ext cx="2606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Instant compliance reporting for software licensing, security accounts, and service health status.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371600"/>
            <a:ext cx="2834640" cy="2011680"/>
          </a:xfrm>
          <a:prstGeom prst="rect">
            <a:avLst/>
          </a:prstGeom>
          <a:solidFill>
            <a:srgbClr val="FDF8F2"/>
          </a:solidFill>
          <a:ln w="12700">
            <a:solidFill>
              <a:srgbClr val="5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A7A4A"/>
                </a:solidFill>
              </a:rPr>
              <a:t>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874519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7A4A"/>
                </a:solidFill>
              </a:rPr>
              <a:t>Zero Footprint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212848"/>
            <a:ext cx="2606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Native WMI means zero endpoint software installations, patches, or maintenance overhead on target machines.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1371600"/>
            <a:ext cx="2834640" cy="2011680"/>
          </a:xfrm>
          <a:prstGeom prst="rect">
            <a:avLst/>
          </a:prstGeom>
          <a:solidFill>
            <a:srgbClr val="FDF8F2"/>
          </a:solidFill>
          <a:ln w="12700">
            <a:solidFill>
              <a:srgbClr val="4A6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A6A7A"/>
                </a:solidFill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1874519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6A7A"/>
                </a:solidFill>
              </a:rPr>
              <a:t>Real-Time Visibility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212848"/>
            <a:ext cx="2606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NOC operators gain instant, live infrastructure dashboards without manual PowerShell or WMI scripting.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3520440"/>
            <a:ext cx="11795760" cy="365760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35661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F0E8"/>
                </a:solidFill>
              </a:rPr>
              <a:t>STRATEGIC ROADMAP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977639"/>
            <a:ext cx="2834640" cy="2468880"/>
          </a:xfrm>
          <a:prstGeom prst="rect">
            <a:avLst/>
          </a:prstGeom>
          <a:solidFill>
            <a:srgbClr val="FDF8F2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" y="3977639"/>
            <a:ext cx="2834640" cy="457200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005072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F0E8"/>
                </a:solidFill>
              </a:rPr>
              <a:t>PHASE 1
✅ Current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45262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Agentless WMI collection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8737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8-domain telemetry coverage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52212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MongoDB + local cache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55686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FastAPI REST +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54680" y="3977639"/>
            <a:ext cx="2834640" cy="2468880"/>
          </a:xfrm>
          <a:prstGeom prst="rect">
            <a:avLst/>
          </a:prstGeom>
          <a:solidFill>
            <a:srgbClr val="FDF8F2"/>
          </a:solidFill>
          <a:ln w="9525">
            <a:solidFill>
              <a:srgbClr val="7A5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54680" y="3977639"/>
            <a:ext cx="2834640" cy="457200"/>
          </a:xfrm>
          <a:prstGeom prst="rect">
            <a:avLst/>
          </a:prstGeom>
          <a:solidFill>
            <a:srgbClr val="7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46120" y="4005072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F0E8"/>
                </a:solidFill>
              </a:rPr>
              <a:t>PHASE 2
Multi-Node Fleet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45262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Active Directory 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8737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Remote DCOM/WinRM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52212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Distributed orchestration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5686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Fleet-wide aggregation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977639"/>
            <a:ext cx="2834640" cy="2468880"/>
          </a:xfrm>
          <a:prstGeom prst="rect">
            <a:avLst/>
          </a:prstGeom>
          <a:solidFill>
            <a:srgbClr val="FDF8F2"/>
          </a:solidFill>
          <a:ln w="9525">
            <a:solidFill>
              <a:srgbClr val="5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0" y="3977639"/>
            <a:ext cx="2834640" cy="457200"/>
          </a:xfrm>
          <a:prstGeom prst="rect">
            <a:avLst/>
          </a:prstGeom>
          <a:solidFill>
            <a:srgbClr val="5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4005072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F0E8"/>
                </a:solidFill>
              </a:rPr>
              <a:t>PHASE 3
ML Anomaly Detection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5262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CPU spike detection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8737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Disk exhaustion alerts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52212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Unauthorized software install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55686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Predictive failure models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98280" y="3977639"/>
            <a:ext cx="2834640" cy="2468880"/>
          </a:xfrm>
          <a:prstGeom prst="rect">
            <a:avLst/>
          </a:prstGeom>
          <a:solidFill>
            <a:srgbClr val="FDF8F2"/>
          </a:solidFill>
          <a:ln w="9525">
            <a:solidFill>
              <a:srgbClr val="4A6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98280" y="3977639"/>
            <a:ext cx="2834640" cy="457200"/>
          </a:xfrm>
          <a:prstGeom prst="rect">
            <a:avLst/>
          </a:prstGeom>
          <a:solidFill>
            <a:srgbClr val="4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89720" y="4005072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F0E8"/>
                </a:solidFill>
              </a:rPr>
              <a:t>PHASE 4
Webhook Alerting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45262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Slack &amp; Teams integration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48737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PagerDuty incidents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52212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Custom alert thresholds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55686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C4A32"/>
                </a:solidFill>
              </a:rPr>
              <a:t>• Audit trail notifications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45720" cy="6748272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C241A"/>
                </a:solidFill>
              </a:rPr>
              <a:t>Appendix — Executive Q&amp;A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6F47"/>
                </a:solidFill>
              </a:rPr>
              <a:t>Anticipated questions and recommended executive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27432"/>
          </a:xfrm>
          <a:prstGeom prst="rect">
            <a:avLst/>
          </a:prstGeom>
          <a:solidFill>
            <a:srgbClr val="D4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0E8"/>
                </a:solidFill>
              </a:rPr>
              <a:t>Enterprise WMI Telemetry Engine  |  Nishta Dhand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6F47"/>
                </a:solidFill>
              </a:rPr>
              <a:t>11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325880"/>
            <a:ext cx="11704320" cy="960120"/>
          </a:xfrm>
          <a:prstGeom prst="rect">
            <a:avLst/>
          </a:prstGeom>
          <a:solidFill>
            <a:srgbClr val="FDF8F2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325880"/>
            <a:ext cx="73152" cy="96012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38074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47"/>
                </a:solidFill>
              </a:rPr>
              <a:t>Q1: Can this monitor remote Windows machines?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74650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4A32"/>
                </a:solidFill>
              </a:rPr>
              <a:t>Yes. By configuring WMI_HOST, WMI_USER, and WMI_PASSWORD in .env, the engine connects over DCOM/RPC or WinRM to remote domain-joined servers with zero code changes.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331720"/>
            <a:ext cx="11704320" cy="960120"/>
          </a:xfrm>
          <a:prstGeom prst="rect">
            <a:avLst/>
          </a:prstGeom>
          <a:solidFill>
            <a:srgbClr val="FDF8F2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331720"/>
            <a:ext cx="73152" cy="96012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38658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47"/>
                </a:solidFill>
              </a:rPr>
              <a:t>Q2: What is the performance impact on the monitored machine?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75234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4A32"/>
                </a:solidFill>
              </a:rPr>
              <a:t>Minimal. WMI queries execute via native Windows kernel drivers. Collection takes ~12-15 seconds and consumes under 2% CPU during execution, sitting idle between intervals.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337560"/>
            <a:ext cx="11704320" cy="960120"/>
          </a:xfrm>
          <a:prstGeom prst="rect">
            <a:avLst/>
          </a:prstGeom>
          <a:solidFill>
            <a:srgbClr val="FDF8F2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337560"/>
            <a:ext cx="73152" cy="96012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39242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47"/>
                </a:solidFill>
              </a:rPr>
              <a:t>Q3: What happens if MongoDB experiences an outage?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75818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4A32"/>
                </a:solidFill>
              </a:rPr>
              <a:t>The system is built with zero-loss resilience. It catches database timeouts and immediately persists snapshots locally to disk. Web API and scheduler continue uninterrupted.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4343400"/>
            <a:ext cx="11704320" cy="960120"/>
          </a:xfrm>
          <a:prstGeom prst="rect">
            <a:avLst/>
          </a:prstGeom>
          <a:solidFill>
            <a:srgbClr val="FDF8F2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4343400"/>
            <a:ext cx="73152" cy="96012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39826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47"/>
                </a:solidFill>
              </a:rPr>
              <a:t>Q4: How secure are the WMI queries?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76402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4A32"/>
                </a:solidFill>
              </a:rPr>
              <a:t>Native WMI enforces Windows NT security permissions. Standard users can read operational state, while sensitive administrative queries respect corporate Windows Access Control Lists (ACLs).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5349240"/>
            <a:ext cx="11704320" cy="960120"/>
          </a:xfrm>
          <a:prstGeom prst="rect">
            <a:avLst/>
          </a:prstGeom>
          <a:solidFill>
            <a:srgbClr val="FDF8F2"/>
          </a:solidFill>
          <a:ln w="6350">
            <a:solidFill>
              <a:srgbClr val="D4B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5349240"/>
            <a:ext cx="73152" cy="960120"/>
          </a:xfrm>
          <a:prstGeom prst="rect">
            <a:avLst/>
          </a:prstGeom>
          <a:solidFill>
            <a:srgbClr val="B8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40410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F47"/>
                </a:solidFill>
              </a:rPr>
              <a:t>Q5: Can this scale to an enterprise fleet of thousands of machines?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769864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C4A32"/>
                </a:solidFill>
              </a:rPr>
              <a:t>Yes. Phase 2 of the roadmap introduces distributed fleet orchestration using Active Directory enumeration, async parallel collection, and a central MongoDB cluster for aggregation.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6400800"/>
            <a:ext cx="11704320" cy="320040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437376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F0E8"/>
                </a:solidFill>
              </a:rPr>
              <a:t>Thank you — Questions Welcome  |  Nishta Dhand  |  Enterprise WMI Telemetry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